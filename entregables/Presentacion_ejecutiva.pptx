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56dcc20e2842de" /><Relationship Type="http://schemas.openxmlformats.org/officeDocument/2006/relationships/extended-properties" Target="/docProps/app.xml" Id="R77562a36f2464795" /><Relationship Type="http://schemas.openxmlformats.org/officeDocument/2006/relationships/officeDocument" Target="/ppt/presentation.xml" Id="R709badb70a1f45c3" /></Relationships>
</file>

<file path=ppt/presentation.xml><?xml version="1.0" encoding="utf-8"?>
<p:presentation xmlns:p="http://schemas.openxmlformats.org/presentationml/2006/main">
  <p:sldMasterIdLst>
    <p:sldMasterId xmlns:r="http://schemas.openxmlformats.org/officeDocument/2006/relationships" id="2147483648" r:id="Rab543195fc854b0e"/>
  </p:sldMasterIdLst>
  <p:notesMasterIdLst>
    <p:notesMasterId xmlns:r="http://schemas.openxmlformats.org/officeDocument/2006/relationships" r:id="R278732fb74154793"/>
  </p:notesMasterIdLst>
  <p:sldIdLst>
    <p:sldId xmlns:r="http://schemas.openxmlformats.org/officeDocument/2006/relationships" id="256" r:id="Racd013e39eb64268"/>
    <p:sldId xmlns:r="http://schemas.openxmlformats.org/officeDocument/2006/relationships" id="257" r:id="R5281a69d5ad147f0"/>
    <p:sldId xmlns:r="http://schemas.openxmlformats.org/officeDocument/2006/relationships" id="258" r:id="R3127cdc7e0c44f61"/>
    <p:sldId xmlns:r="http://schemas.openxmlformats.org/officeDocument/2006/relationships" id="259" r:id="Rdb8c5193e86d4850"/>
    <p:sldId xmlns:r="http://schemas.openxmlformats.org/officeDocument/2006/relationships" id="260" r:id="Rebdbffbd653b4d2b"/>
    <p:sldId xmlns:r="http://schemas.openxmlformats.org/officeDocument/2006/relationships" id="261" r:id="R4d632e4e10284a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78e82cf842495f" /><Relationship Type="http://schemas.openxmlformats.org/officeDocument/2006/relationships/slideMaster" Target="/ppt/slideMasters/slideMaster1.xml" Id="Rab543195fc854b0e" /><Relationship Type="http://schemas.openxmlformats.org/officeDocument/2006/relationships/notesMaster" Target="/ppt/notesMasters/notesMaster1.xml" Id="R278732fb74154793" /><Relationship Type="http://schemas.openxmlformats.org/officeDocument/2006/relationships/presProps" Target="/ppt/presProps.xml" Id="R86101e5e44034686" /><Relationship Type="http://schemas.openxmlformats.org/officeDocument/2006/relationships/tableStyles" Target="/ppt/tableStyles.xml" Id="R1320e32dd3d44f23" /><Relationship Type="http://schemas.openxmlformats.org/officeDocument/2006/relationships/slide" Target="/ppt/slides/slide1.xml" Id="Racd013e39eb64268" /><Relationship Type="http://schemas.openxmlformats.org/officeDocument/2006/relationships/slide" Target="/ppt/slides/slide2.xml" Id="R5281a69d5ad147f0" /><Relationship Type="http://schemas.openxmlformats.org/officeDocument/2006/relationships/slide" Target="/ppt/slides/slide3.xml" Id="R3127cdc7e0c44f61" /><Relationship Type="http://schemas.openxmlformats.org/officeDocument/2006/relationships/slide" Target="/ppt/slides/slide4.xml" Id="Rdb8c5193e86d4850" /><Relationship Type="http://schemas.openxmlformats.org/officeDocument/2006/relationships/slide" Target="/ppt/slides/slide5.xml" Id="Rebdbffbd653b4d2b" /><Relationship Type="http://schemas.openxmlformats.org/officeDocument/2006/relationships/slide" Target="/ppt/slides/slide6.xml" Id="R4d632e4e10284a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fc37cc57c14f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f9a89a2f3b4850" /><Relationship Type="http://schemas.openxmlformats.org/officeDocument/2006/relationships/notesMaster" Target="/ppt/notesMasters/notesMaster1.xml" Id="Rdfe20502226b44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97a164c70a4f2e" /><Relationship Type="http://schemas.openxmlformats.org/officeDocument/2006/relationships/notesMaster" Target="/ppt/notesMasters/notesMaster1.xml" Id="Rb0d6619a396648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d4485af9a74c5b" /><Relationship Type="http://schemas.openxmlformats.org/officeDocument/2006/relationships/notesMaster" Target="/ppt/notesMasters/notesMaster1.xml" Id="R21576e7fdb8443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6007261b6c4776" /><Relationship Type="http://schemas.openxmlformats.org/officeDocument/2006/relationships/notesMaster" Target="/ppt/notesMasters/notesMaster1.xml" Id="R0816bb3554734a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1411348e9044fa" /><Relationship Type="http://schemas.openxmlformats.org/officeDocument/2006/relationships/notesMaster" Target="/ppt/notesMasters/notesMaster1.xml" Id="Rd3dec7b051ad46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c7a88992c74583" /><Relationship Type="http://schemas.openxmlformats.org/officeDocument/2006/relationships/notesMaster" Target="/ppt/notesMasters/notesMaster1.xml" Id="R354231c960384a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Geraldine, 30 segundos. Presentamos un prototipo que consulta el pronóstico y recomienda actividades. La empresa pidió incorporar una condición adicional: bloquear las actividades exteriores cuando el viento supera los 50 km/h. Fuente del requisito: captura de la actividad Stakeholder.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Geraldine, 40 segundos. El requisito inicial se centraba en recomendar según el clima. El cambio exige dar prioridad al viento, incluso con sol. El profesor representa al cliente que valida la solución. No afirmamos que ya haya aprobado la entrega.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Geraldine, 40 segundos. Resaltar la diferencia entre superar y alcanzar el umbral. La regla se comprueba antes de entregar cualquier recomendación. Las condiciones como lluvia también pueden limitar los planes. El umbral pertenece al ejercicio y no es una garantía de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Julián, 60 segundos. Abrir la aplicación local y usar el modo de demostración. Primero 20 km/h y soleado. Luego 60 km/h, conservando soleado. Mostrar que desaparecen todos los planes exteriores. Probar 50 y después 50,01 para evidenciar el límite exacto. Los valores son escenarios simulados, no observaciones meteorológicas.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Julián, 45 segundos. La solución mantiene la fuente de clima y añade una regla central de seguridad. Si el proveedor falla, no se reutilizan resultados anteriores. La alerta aparece al consultar; no es un sistema de monitoreo continuo ni envía mensajes al celular. Fuente técnica: https://open-meteo.com/en/docs.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Julián, 45 segundos. Se ejecutaron siete métodos de prueba que incluyen varios escenarios. El documento explica el impacto técnico y el README permite repetir la ejecución. Pedimos al profesor validar el comportamiento mostrado. La publicación en GitHub depende de definir el repositorio de destino. La consulta real valida la conexión, mientras que los casos simulados reproducen el viento fuerte.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fc8fcc634f4a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64065132724e31" /><Relationship Type="http://schemas.openxmlformats.org/officeDocument/2006/relationships/slideLayout" Target="/ppt/slideLayouts/slideLayout1.xml" Id="Re6dbe1d806f143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dbe1d806f143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60adb26a484cce" /><Relationship Type="http://schemas.openxmlformats.org/officeDocument/2006/relationships/notesSlide" Target="/ppt/notesSlides/notesSlide1.xml" Id="Rc58603bb10054d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23ba2f813b4ce4" /><Relationship Type="http://schemas.openxmlformats.org/officeDocument/2006/relationships/notesSlide" Target="/ppt/notesSlides/notesSlide2.xml" Id="R28645afe361442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9f120572ab4f43" /><Relationship Type="http://schemas.openxmlformats.org/officeDocument/2006/relationships/notesSlide" Target="/ppt/notesSlides/notesSlide3.xml" Id="Ree832f666f7a4b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ebe9f93f37449d" /><Relationship Type="http://schemas.openxmlformats.org/officeDocument/2006/relationships/notesSlide" Target="/ppt/notesSlides/notesSlide4.xml" Id="Re664282c550343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8e2328d92744b8" /><Relationship Type="http://schemas.openxmlformats.org/officeDocument/2006/relationships/notesSlide" Target="/ppt/notesSlides/notesSlide5.xml" Id="R4e6a3bbb707942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dd22f4524f4055" /><Relationship Type="http://schemas.openxmlformats.org/officeDocument/2006/relationships/notesSlide" Target="/ppt/notesSlides/notesSlide6.xml" Id="R6b3ebe09a3f14bfc" /></Relationships>
</file>

<file path=ppt/slides/slide1.xml><?xml version="1.0" encoding="utf-8"?>
<p:sld xmlns:p="http://schemas.openxmlformats.org/presentationml/2006/main">
  <p:cSld>
    <p:bg>
      <p:bgPr>
        <a:solidFill xmlns:a="http://schemas.openxmlformats.org/drawingml/2006/main">
          <a:srgbClr val="173B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3422C4-A2C7-432C-8F2D-4D0354B7D79B}"/>
              </a:ext>
            </a:extLst>
          </p:cNvPr>
          <p:cNvSpPr>
            <a:spLocks xmlns:a="http://schemas.openxmlformats.org/drawingml/2006/main" noGrp="1"/>
          </p:cNvSpPr>
          <p:nvPr/>
        </p:nvSpPr>
        <p:spPr>
          <a:xfrm xmlns:a="http://schemas.openxmlformats.org/drawingml/2006/main">
            <a:off x="723900" y="619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Turismo y clima</a:t>
            </a:r>
          </a:p>
        </p:txBody>
      </p:sp>
      <p:sp>
        <p:nvSpPr>
          <p:cNvPr id="2" name="">
            <a:extLst xmlns:a="http://schemas.openxmlformats.org/drawingml/2006/main">
              <a:ext uri="{FF2B5EF4-FFF2-40B4-BE49-F238E27FC236}">
                <a16:creationId xmlns:a16="http://schemas.microsoft.com/office/drawing/2014/main" id="{31575DED-FE78-4CAA-A3A6-484ACD6BCAD0}"/>
              </a:ext>
            </a:extLst>
          </p:cNvPr>
          <p:cNvSpPr>
            <a:spLocks xmlns:a="http://schemas.openxmlformats.org/drawingml/2006/main" noGrp="1"/>
          </p:cNvSpPr>
          <p:nvPr/>
        </p:nvSpPr>
        <p:spPr>
          <a:xfrm xmlns:a="http://schemas.openxmlformats.org/drawingml/2006/main">
            <a:off x="723900" y="21907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Recomendaciones con bloqueo</a:t>
            </a:r>
          </a:p>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por viento fuerte</a:t>
            </a:r>
          </a:p>
        </p:txBody>
      </p:sp>
      <p:sp>
        <p:nvSpPr>
          <p:cNvPr id="3" name="">
            <a:extLst xmlns:a="http://schemas.openxmlformats.org/drawingml/2006/main">
              <a:ext uri="{FF2B5EF4-FFF2-40B4-BE49-F238E27FC236}">
                <a16:creationId xmlns:a16="http://schemas.microsoft.com/office/drawing/2014/main" id="{424CCDBE-D08E-4771-9862-EBC9AC0469D7}"/>
              </a:ext>
            </a:extLst>
          </p:cNvPr>
          <p:cNvSpPr>
            <a:spLocks xmlns:a="http://schemas.openxmlformats.org/drawingml/2006/main" noGrp="1"/>
          </p:cNvSpPr>
          <p:nvPr/>
        </p:nvSpPr>
        <p:spPr>
          <a:xfrm xmlns:a="http://schemas.openxmlformats.org/drawingml/2006/main">
            <a:off x="723900" y="4191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Julián Daniel Quitian Peña</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Geraldine Rojas Torres</a:t>
            </a:r>
          </a:p>
        </p:txBody>
      </p:sp>
      <p:sp>
        <p:nvSpPr>
          <p:cNvPr id="4" name="">
            <a:extLst xmlns:a="http://schemas.openxmlformats.org/drawingml/2006/main">
              <a:ext uri="{FF2B5EF4-FFF2-40B4-BE49-F238E27FC236}">
                <a16:creationId xmlns:a16="http://schemas.microsoft.com/office/drawing/2014/main" id="{BA960F07-8A5A-4365-935E-8B614FCA85EC}"/>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01</a:t>
            </a:r>
          </a:p>
        </p:txBody>
      </p:sp>
    </p:spTree>
    <p:extLst>
      <p:ext uri="{BB962C8B-B14F-4D97-AF65-F5344CB8AC3E}">
        <p14:creationId xmlns:p14="http://schemas.microsoft.com/office/powerpoint/2010/main" val="1081922204"/>
      </p:ext>
    </p:extLst>
  </p:cSld>
</p:sld>
</file>

<file path=ppt/slides/slide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88D6F8-3BA2-41E6-97DE-B347E30183ED}"/>
              </a:ext>
            </a:extLst>
          </p:cNvPr>
          <p:cNvSpPr>
            <a:spLocks xmlns:a="http://schemas.openxmlformats.org/drawingml/2006/main" noGrp="1"/>
          </p:cNvSpPr>
          <p:nvPr/>
        </p:nvSpPr>
        <p:spPr>
          <a:xfrm xmlns:a="http://schemas.openxmlformats.org/drawingml/2006/main">
            <a:off x="723900" y="619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42"/>
                </a:solidFill>
                <a:latin typeface="Arial"/>
                <a:ea typeface="Arial"/>
                <a:cs typeface="Arial"/>
              </a:defRPr>
            </a:pPr>
            <a:r>
              <a:rPr sz="3450" b="1">
                <a:solidFill>
                  <a:srgbClr val="173B42"/>
                </a:solidFill>
                <a:latin typeface="Arial"/>
                <a:ea typeface="Arial"/>
                <a:cs typeface="Arial"/>
              </a:rPr>
              <a:t>El cambio solicitado</a:t>
            </a:r>
          </a:p>
        </p:txBody>
      </p:sp>
      <p:sp>
        <p:nvSpPr>
          <p:cNvPr id="2" name="">
            <a:extLst xmlns:a="http://schemas.openxmlformats.org/drawingml/2006/main">
              <a:ext uri="{FF2B5EF4-FFF2-40B4-BE49-F238E27FC236}">
                <a16:creationId xmlns:a16="http://schemas.microsoft.com/office/drawing/2014/main" id="{9CD5890B-C45C-4096-B2CC-3AA85DFB5614}"/>
              </a:ext>
            </a:extLst>
          </p:cNvPr>
          <p:cNvSpPr>
            <a:spLocks xmlns:a="http://schemas.openxmlformats.org/drawingml/2006/main" noGrp="1"/>
          </p:cNvSpPr>
          <p:nvPr/>
        </p:nvSpPr>
        <p:spPr>
          <a:xfrm xmlns:a="http://schemas.openxmlformats.org/drawingml/2006/main">
            <a:off x="723900" y="21907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3B42"/>
                </a:solidFill>
                <a:latin typeface="Arial"/>
                <a:ea typeface="Arial"/>
                <a:cs typeface="Arial"/>
              </a:defRPr>
            </a:pPr>
            <a:r>
              <a:rPr sz="3525" b="1">
                <a:solidFill>
                  <a:srgbClr val="173B42"/>
                </a:solidFill>
                <a:latin typeface="Arial"/>
                <a:ea typeface="Arial"/>
                <a:cs typeface="Arial"/>
              </a:rPr>
              <a:t>Un día soleado también puede</a:t>
            </a:r>
          </a:p>
          <a:p xmlns:a="http://schemas.openxmlformats.org/drawingml/2006/main">
            <a:pPr>
              <a:defRPr sz="3525" b="1">
                <a:solidFill>
                  <a:srgbClr val="173B42"/>
                </a:solidFill>
                <a:latin typeface="Arial"/>
                <a:ea typeface="Arial"/>
                <a:cs typeface="Arial"/>
              </a:defRPr>
            </a:pPr>
            <a:r>
              <a:rPr sz="3525" b="1">
                <a:solidFill>
                  <a:srgbClr val="173B42"/>
                </a:solidFill>
                <a:latin typeface="Arial"/>
                <a:ea typeface="Arial"/>
                <a:cs typeface="Arial"/>
              </a:rPr>
              <a:t>tener viento fuerte.</a:t>
            </a:r>
          </a:p>
        </p:txBody>
      </p:sp>
      <p:sp>
        <p:nvSpPr>
          <p:cNvPr id="3" name="">
            <a:extLst xmlns:a="http://schemas.openxmlformats.org/drawingml/2006/main">
              <a:ext uri="{FF2B5EF4-FFF2-40B4-BE49-F238E27FC236}">
                <a16:creationId xmlns:a16="http://schemas.microsoft.com/office/drawing/2014/main" id="{01833648-EB3A-46C2-ACA9-7C5B9CB0BC08}"/>
              </a:ext>
            </a:extLst>
          </p:cNvPr>
          <p:cNvSpPr>
            <a:spLocks xmlns:a="http://schemas.openxmlformats.org/drawingml/2006/main" noGrp="1"/>
          </p:cNvSpPr>
          <p:nvPr/>
        </p:nvSpPr>
        <p:spPr>
          <a:xfrm xmlns:a="http://schemas.openxmlformats.org/drawingml/2006/main">
            <a:off x="723900" y="4191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Marketing pide retirar todos los planes al aire libre</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cuando el viento supera los 50 km/h.</a:t>
            </a:r>
          </a:p>
        </p:txBody>
      </p:sp>
      <p:sp>
        <p:nvSpPr>
          <p:cNvPr id="4" name="">
            <a:extLst xmlns:a="http://schemas.openxmlformats.org/drawingml/2006/main">
              <a:ext uri="{FF2B5EF4-FFF2-40B4-BE49-F238E27FC236}">
                <a16:creationId xmlns:a16="http://schemas.microsoft.com/office/drawing/2014/main" id="{935EE89B-6FC7-4558-91C5-C0BE55BE5D9A}"/>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B42"/>
                </a:solidFill>
                <a:latin typeface="Arial"/>
                <a:ea typeface="Arial"/>
                <a:cs typeface="Arial"/>
              </a:defRPr>
            </a:pPr>
            <a:r>
              <a:rPr sz="1350" b="0">
                <a:solidFill>
                  <a:srgbClr val="173B42"/>
                </a:solidFill>
                <a:latin typeface="Arial"/>
                <a:ea typeface="Arial"/>
                <a:cs typeface="Arial"/>
              </a:rPr>
              <a:t>02</a:t>
            </a:r>
          </a:p>
        </p:txBody>
      </p:sp>
    </p:spTree>
    <p:extLst>
      <p:ext uri="{BB962C8B-B14F-4D97-AF65-F5344CB8AC3E}">
        <p14:creationId xmlns:p14="http://schemas.microsoft.com/office/powerpoint/2010/main" val="1325157302"/>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D71965-1F8D-48E2-8B6A-39B63C831C9E}"/>
              </a:ext>
            </a:extLst>
          </p:cNvPr>
          <p:cNvSpPr>
            <a:spLocks xmlns:a="http://schemas.openxmlformats.org/drawingml/2006/main" noGrp="1"/>
          </p:cNvSpPr>
          <p:nvPr/>
        </p:nvSpPr>
        <p:spPr>
          <a:xfrm xmlns:a="http://schemas.openxmlformats.org/drawingml/2006/main">
            <a:off x="723900" y="619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42"/>
                </a:solidFill>
                <a:latin typeface="Arial"/>
                <a:ea typeface="Arial"/>
                <a:cs typeface="Arial"/>
              </a:defRPr>
            </a:pPr>
            <a:r>
              <a:rPr sz="3450" b="1">
                <a:solidFill>
                  <a:srgbClr val="173B42"/>
                </a:solidFill>
                <a:latin typeface="Arial"/>
                <a:ea typeface="Arial"/>
                <a:cs typeface="Arial"/>
              </a:rPr>
              <a:t>La regla que aplica el servicio</a:t>
            </a:r>
          </a:p>
        </p:txBody>
      </p:sp>
      <p:sp>
        <p:nvSpPr>
          <p:cNvPr id="2" name="">
            <a:extLst xmlns:a="http://schemas.openxmlformats.org/drawingml/2006/main">
              <a:ext uri="{FF2B5EF4-FFF2-40B4-BE49-F238E27FC236}">
                <a16:creationId xmlns:a16="http://schemas.microsoft.com/office/drawing/2014/main" id="{6D7C5BD8-341D-4BCB-A93F-4475C96839DD}"/>
              </a:ext>
            </a:extLst>
          </p:cNvPr>
          <p:cNvSpPr>
            <a:spLocks xmlns:a="http://schemas.openxmlformats.org/drawingml/2006/main" noGrp="1"/>
          </p:cNvSpPr>
          <p:nvPr/>
        </p:nvSpPr>
        <p:spPr>
          <a:xfrm xmlns:a="http://schemas.openxmlformats.org/drawingml/2006/main">
            <a:off x="723900" y="21907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3B42"/>
                </a:solidFill>
                <a:latin typeface="Arial"/>
                <a:ea typeface="Arial"/>
                <a:cs typeface="Arial"/>
              </a:defRPr>
            </a:pPr>
            <a:r>
              <a:rPr sz="3525" b="1">
                <a:solidFill>
                  <a:srgbClr val="173B42"/>
                </a:solidFill>
                <a:latin typeface="Arial"/>
                <a:ea typeface="Arial"/>
                <a:cs typeface="Arial"/>
              </a:rPr>
              <a:t>Más de 50 km/h</a:t>
            </a:r>
          </a:p>
        </p:txBody>
      </p:sp>
      <p:sp>
        <p:nvSpPr>
          <p:cNvPr id="3" name="">
            <a:extLst xmlns:a="http://schemas.openxmlformats.org/drawingml/2006/main">
              <a:ext uri="{FF2B5EF4-FFF2-40B4-BE49-F238E27FC236}">
                <a16:creationId xmlns:a16="http://schemas.microsoft.com/office/drawing/2014/main" id="{74003053-DACD-4392-BD3A-5E28AC52555A}"/>
              </a:ext>
            </a:extLst>
          </p:cNvPr>
          <p:cNvSpPr>
            <a:spLocks xmlns:a="http://schemas.openxmlformats.org/drawingml/2006/main" noGrp="1"/>
          </p:cNvSpPr>
          <p:nvPr/>
        </p:nvSpPr>
        <p:spPr>
          <a:xfrm xmlns:a="http://schemas.openxmlformats.org/drawingml/2006/main">
            <a:off x="723900" y="4191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Bloquea todas las actividades al aire libre.</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Muestra una alerta y conserva opciones bajo techo.</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A 50 km/h no se activa el bloqueo por viento.</a:t>
            </a:r>
          </a:p>
        </p:txBody>
      </p:sp>
      <p:sp>
        <p:nvSpPr>
          <p:cNvPr id="4" name="">
            <a:extLst xmlns:a="http://schemas.openxmlformats.org/drawingml/2006/main">
              <a:ext uri="{FF2B5EF4-FFF2-40B4-BE49-F238E27FC236}">
                <a16:creationId xmlns:a16="http://schemas.microsoft.com/office/drawing/2014/main" id="{D07C9BA8-427E-4683-A7C1-668A31C4BC4D}"/>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B42"/>
                </a:solidFill>
                <a:latin typeface="Arial"/>
                <a:ea typeface="Arial"/>
                <a:cs typeface="Arial"/>
              </a:defRPr>
            </a:pPr>
            <a:r>
              <a:rPr sz="1350" b="0">
                <a:solidFill>
                  <a:srgbClr val="173B42"/>
                </a:solidFill>
                <a:latin typeface="Arial"/>
                <a:ea typeface="Arial"/>
                <a:cs typeface="Arial"/>
              </a:rPr>
              <a:t>03</a:t>
            </a:r>
          </a:p>
        </p:txBody>
      </p:sp>
    </p:spTree>
    <p:extLst>
      <p:ext uri="{BB962C8B-B14F-4D97-AF65-F5344CB8AC3E}">
        <p14:creationId xmlns:p14="http://schemas.microsoft.com/office/powerpoint/2010/main" val="719128392"/>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57CB3F-6871-475C-8E75-974743197E09}"/>
              </a:ext>
            </a:extLst>
          </p:cNvPr>
          <p:cNvSpPr>
            <a:spLocks xmlns:a="http://schemas.openxmlformats.org/drawingml/2006/main" noGrp="1"/>
          </p:cNvSpPr>
          <p:nvPr/>
        </p:nvSpPr>
        <p:spPr>
          <a:xfrm xmlns:a="http://schemas.openxmlformats.org/drawingml/2006/main">
            <a:off x="723900" y="619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42"/>
                </a:solidFill>
                <a:latin typeface="Arial"/>
                <a:ea typeface="Arial"/>
                <a:cs typeface="Arial"/>
              </a:defRPr>
            </a:pPr>
            <a:r>
              <a:rPr sz="3450" b="1">
                <a:solidFill>
                  <a:srgbClr val="173B42"/>
                </a:solidFill>
                <a:latin typeface="Arial"/>
                <a:ea typeface="Arial"/>
                <a:cs typeface="Arial"/>
              </a:rPr>
              <a:t>Demostración con cielo soleado</a:t>
            </a:r>
          </a:p>
        </p:txBody>
      </p:sp>
      <p:sp>
        <p:nvSpPr>
          <p:cNvPr id="2" name="">
            <a:extLst xmlns:a="http://schemas.openxmlformats.org/drawingml/2006/main">
              <a:ext uri="{FF2B5EF4-FFF2-40B4-BE49-F238E27FC236}">
                <a16:creationId xmlns:a16="http://schemas.microsoft.com/office/drawing/2014/main" id="{04CAEA7D-3F11-4C98-BC1F-973415724260}"/>
              </a:ext>
            </a:extLst>
          </p:cNvPr>
          <p:cNvSpPr>
            <a:spLocks xmlns:a="http://schemas.openxmlformats.org/drawingml/2006/main" noGrp="1"/>
          </p:cNvSpPr>
          <p:nvPr/>
        </p:nvSpPr>
        <p:spPr>
          <a:xfrm xmlns:a="http://schemas.openxmlformats.org/drawingml/2006/main">
            <a:off x="723900" y="21907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3B42"/>
                </a:solidFill>
                <a:latin typeface="Arial"/>
                <a:ea typeface="Arial"/>
                <a:cs typeface="Arial"/>
              </a:defRPr>
            </a:pPr>
            <a:r>
              <a:rPr sz="3525" b="1">
                <a:solidFill>
                  <a:srgbClr val="173B42"/>
                </a:solidFill>
                <a:latin typeface="Arial"/>
                <a:ea typeface="Arial"/>
                <a:cs typeface="Arial"/>
              </a:rPr>
              <a:t>20 km/h                        60 km/h</a:t>
            </a:r>
          </a:p>
        </p:txBody>
      </p:sp>
      <p:sp>
        <p:nvSpPr>
          <p:cNvPr id="3" name="">
            <a:extLst xmlns:a="http://schemas.openxmlformats.org/drawingml/2006/main">
              <a:ext uri="{FF2B5EF4-FFF2-40B4-BE49-F238E27FC236}">
                <a16:creationId xmlns:a16="http://schemas.microsoft.com/office/drawing/2014/main" id="{127B7E6C-16BF-4E17-9C7F-BD2DB6A7908C}"/>
              </a:ext>
            </a:extLst>
          </p:cNvPr>
          <p:cNvSpPr>
            <a:spLocks xmlns:a="http://schemas.openxmlformats.org/drawingml/2006/main" noGrp="1"/>
          </p:cNvSpPr>
          <p:nvPr/>
        </p:nvSpPr>
        <p:spPr>
          <a:xfrm xmlns:a="http://schemas.openxmlformats.org/drawingml/2006/main">
            <a:off x="723900" y="4191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Museo y paseo                 Solo planes bajo techo</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Sin alerta de viento         Alerta de seguridad</a:t>
            </a:r>
          </a:p>
        </p:txBody>
      </p:sp>
      <p:sp>
        <p:nvSpPr>
          <p:cNvPr id="4" name="">
            <a:extLst xmlns:a="http://schemas.openxmlformats.org/drawingml/2006/main">
              <a:ext uri="{FF2B5EF4-FFF2-40B4-BE49-F238E27FC236}">
                <a16:creationId xmlns:a16="http://schemas.microsoft.com/office/drawing/2014/main" id="{D11DBC78-F89A-489E-8023-1A253E72C588}"/>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B42"/>
                </a:solidFill>
                <a:latin typeface="Arial"/>
                <a:ea typeface="Arial"/>
                <a:cs typeface="Arial"/>
              </a:defRPr>
            </a:pPr>
            <a:r>
              <a:rPr sz="1350" b="0">
                <a:solidFill>
                  <a:srgbClr val="173B42"/>
                </a:solidFill>
                <a:latin typeface="Arial"/>
                <a:ea typeface="Arial"/>
                <a:cs typeface="Arial"/>
              </a:rPr>
              <a:t>04</a:t>
            </a:r>
          </a:p>
        </p:txBody>
      </p:sp>
    </p:spTree>
    <p:extLst>
      <p:ext uri="{BB962C8B-B14F-4D97-AF65-F5344CB8AC3E}">
        <p14:creationId xmlns:p14="http://schemas.microsoft.com/office/powerpoint/2010/main" val="103104963"/>
      </p:ext>
    </p:extLst>
  </p:cSld>
</p:sld>
</file>

<file path=ppt/slides/slide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9670D2-368E-497A-8325-75A6A40395EE}"/>
              </a:ext>
            </a:extLst>
          </p:cNvPr>
          <p:cNvSpPr>
            <a:spLocks xmlns:a="http://schemas.openxmlformats.org/drawingml/2006/main" noGrp="1"/>
          </p:cNvSpPr>
          <p:nvPr/>
        </p:nvSpPr>
        <p:spPr>
          <a:xfrm xmlns:a="http://schemas.openxmlformats.org/drawingml/2006/main">
            <a:off x="723900" y="619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42"/>
                </a:solidFill>
                <a:latin typeface="Arial"/>
                <a:ea typeface="Arial"/>
                <a:cs typeface="Arial"/>
              </a:defRPr>
            </a:pPr>
            <a:r>
              <a:rPr sz="3450" b="1">
                <a:solidFill>
                  <a:srgbClr val="173B42"/>
                </a:solidFill>
                <a:latin typeface="Arial"/>
                <a:ea typeface="Arial"/>
                <a:cs typeface="Arial"/>
              </a:rPr>
              <a:t>Impacto para la empresa</a:t>
            </a:r>
          </a:p>
        </p:txBody>
      </p:sp>
      <p:sp>
        <p:nvSpPr>
          <p:cNvPr id="2" name="">
            <a:extLst xmlns:a="http://schemas.openxmlformats.org/drawingml/2006/main">
              <a:ext uri="{FF2B5EF4-FFF2-40B4-BE49-F238E27FC236}">
                <a16:creationId xmlns:a16="http://schemas.microsoft.com/office/drawing/2014/main" id="{3DC1158F-2A14-486F-B39D-5E18512DDA8C}"/>
              </a:ext>
            </a:extLst>
          </p:cNvPr>
          <p:cNvSpPr>
            <a:spLocks xmlns:a="http://schemas.openxmlformats.org/drawingml/2006/main" noGrp="1"/>
          </p:cNvSpPr>
          <p:nvPr/>
        </p:nvSpPr>
        <p:spPr>
          <a:xfrm xmlns:a="http://schemas.openxmlformats.org/drawingml/2006/main">
            <a:off x="723900" y="21907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3B42"/>
                </a:solidFill>
                <a:latin typeface="Arial"/>
                <a:ea typeface="Arial"/>
                <a:cs typeface="Arial"/>
              </a:defRPr>
            </a:pPr>
            <a:r>
              <a:rPr sz="3525" b="1">
                <a:solidFill>
                  <a:srgbClr val="173B42"/>
                </a:solidFill>
                <a:latin typeface="Arial"/>
                <a:ea typeface="Arial"/>
                <a:cs typeface="Arial"/>
              </a:rPr>
              <a:t>El servicio adapta las recomendaciones</a:t>
            </a:r>
          </a:p>
          <a:p xmlns:a="http://schemas.openxmlformats.org/drawingml/2006/main">
            <a:pPr>
              <a:defRPr sz="3525" b="1">
                <a:solidFill>
                  <a:srgbClr val="173B42"/>
                </a:solidFill>
                <a:latin typeface="Arial"/>
                <a:ea typeface="Arial"/>
                <a:cs typeface="Arial"/>
              </a:defRPr>
            </a:pPr>
            <a:r>
              <a:rPr sz="3525" b="1">
                <a:solidFill>
                  <a:srgbClr val="173B42"/>
                </a:solidFill>
                <a:latin typeface="Arial"/>
                <a:ea typeface="Arial"/>
                <a:cs typeface="Arial"/>
              </a:rPr>
              <a:t>sin cambiar la consulta del clima.</a:t>
            </a:r>
          </a:p>
        </p:txBody>
      </p:sp>
      <p:sp>
        <p:nvSpPr>
          <p:cNvPr id="3" name="">
            <a:extLst xmlns:a="http://schemas.openxmlformats.org/drawingml/2006/main">
              <a:ext uri="{FF2B5EF4-FFF2-40B4-BE49-F238E27FC236}">
                <a16:creationId xmlns:a16="http://schemas.microsoft.com/office/drawing/2014/main" id="{AB1534C1-2BB4-4E36-A9BB-B6EBBF108854}"/>
              </a:ext>
            </a:extLst>
          </p:cNvPr>
          <p:cNvSpPr>
            <a:spLocks xmlns:a="http://schemas.openxmlformats.org/drawingml/2006/main" noGrp="1"/>
          </p:cNvSpPr>
          <p:nvPr/>
        </p:nvSpPr>
        <p:spPr>
          <a:xfrm xmlns:a="http://schemas.openxmlformats.org/drawingml/2006/main">
            <a:off x="723900" y="4191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El viajero conoce el motivo del bloqueo.</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Si falta el pronóstico, el sistema avisa</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y suspende las recomendaciones.</a:t>
            </a:r>
          </a:p>
        </p:txBody>
      </p:sp>
      <p:sp>
        <p:nvSpPr>
          <p:cNvPr id="4" name="">
            <a:extLst xmlns:a="http://schemas.openxmlformats.org/drawingml/2006/main">
              <a:ext uri="{FF2B5EF4-FFF2-40B4-BE49-F238E27FC236}">
                <a16:creationId xmlns:a16="http://schemas.microsoft.com/office/drawing/2014/main" id="{606BF006-FE49-4CB7-BAAA-C5F8C5C78EA9}"/>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B42"/>
                </a:solidFill>
                <a:latin typeface="Arial"/>
                <a:ea typeface="Arial"/>
                <a:cs typeface="Arial"/>
              </a:defRPr>
            </a:pPr>
            <a:r>
              <a:rPr sz="1350" b="0">
                <a:solidFill>
                  <a:srgbClr val="173B42"/>
                </a:solidFill>
                <a:latin typeface="Arial"/>
                <a:ea typeface="Arial"/>
                <a:cs typeface="Arial"/>
              </a:rPr>
              <a:t>05</a:t>
            </a:r>
          </a:p>
        </p:txBody>
      </p:sp>
    </p:spTree>
    <p:extLst>
      <p:ext uri="{BB962C8B-B14F-4D97-AF65-F5344CB8AC3E}">
        <p14:creationId xmlns:p14="http://schemas.microsoft.com/office/powerpoint/2010/main" val="1647461020"/>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02D62E-AAC0-4975-B4E2-2A8A5677FC0B}"/>
              </a:ext>
            </a:extLst>
          </p:cNvPr>
          <p:cNvSpPr>
            <a:spLocks xmlns:a="http://schemas.openxmlformats.org/drawingml/2006/main" noGrp="1"/>
          </p:cNvSpPr>
          <p:nvPr/>
        </p:nvSpPr>
        <p:spPr>
          <a:xfrm xmlns:a="http://schemas.openxmlformats.org/drawingml/2006/main">
            <a:off x="723900" y="619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42"/>
                </a:solidFill>
                <a:latin typeface="Arial"/>
                <a:ea typeface="Arial"/>
                <a:cs typeface="Arial"/>
              </a:defRPr>
            </a:pPr>
            <a:r>
              <a:rPr sz="3450" b="1">
                <a:solidFill>
                  <a:srgbClr val="173B42"/>
                </a:solidFill>
                <a:latin typeface="Arial"/>
                <a:ea typeface="Arial"/>
                <a:cs typeface="Arial"/>
              </a:rPr>
              <a:t>Validación y cierre del cambio</a:t>
            </a:r>
          </a:p>
        </p:txBody>
      </p:sp>
      <p:sp>
        <p:nvSpPr>
          <p:cNvPr id="2" name="">
            <a:extLst xmlns:a="http://schemas.openxmlformats.org/drawingml/2006/main">
              <a:ext uri="{FF2B5EF4-FFF2-40B4-BE49-F238E27FC236}">
                <a16:creationId xmlns:a16="http://schemas.microsoft.com/office/drawing/2014/main" id="{9DB636B0-CB70-4E81-825D-6123DD2DB0D5}"/>
              </a:ext>
            </a:extLst>
          </p:cNvPr>
          <p:cNvSpPr>
            <a:spLocks xmlns:a="http://schemas.openxmlformats.org/drawingml/2006/main" noGrp="1"/>
          </p:cNvSpPr>
          <p:nvPr/>
        </p:nvSpPr>
        <p:spPr>
          <a:xfrm xmlns:a="http://schemas.openxmlformats.org/drawingml/2006/main">
            <a:off x="723900" y="21907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3B42"/>
                </a:solidFill>
                <a:latin typeface="Arial"/>
                <a:ea typeface="Arial"/>
                <a:cs typeface="Arial"/>
              </a:defRPr>
            </a:pPr>
            <a:r>
              <a:rPr sz="3525" b="1">
                <a:solidFill>
                  <a:srgbClr val="173B42"/>
                </a:solidFill>
                <a:latin typeface="Arial"/>
                <a:ea typeface="Arial"/>
                <a:cs typeface="Arial"/>
              </a:rPr>
              <a:t>7 pruebas automatizadas satisfactorias</a:t>
            </a:r>
          </a:p>
        </p:txBody>
      </p:sp>
      <p:sp>
        <p:nvSpPr>
          <p:cNvPr id="3" name="">
            <a:extLst xmlns:a="http://schemas.openxmlformats.org/drawingml/2006/main">
              <a:ext uri="{FF2B5EF4-FFF2-40B4-BE49-F238E27FC236}">
                <a16:creationId xmlns:a16="http://schemas.microsoft.com/office/drawing/2014/main" id="{BD3F4353-D0F7-4B51-B1BD-3671B5FB6437}"/>
              </a:ext>
            </a:extLst>
          </p:cNvPr>
          <p:cNvSpPr>
            <a:spLocks xmlns:a="http://schemas.openxmlformats.org/drawingml/2006/main" noGrp="1"/>
          </p:cNvSpPr>
          <p:nvPr/>
        </p:nvSpPr>
        <p:spPr>
          <a:xfrm xmlns:a="http://schemas.openxmlformats.org/drawingml/2006/main">
            <a:off x="723900" y="4191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Límite de viento, clima y fallos del proveedor.</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Consulta real del pronóstico comprobada.</a:t>
            </a:r>
          </a:p>
          <a:p xmlns:a="http://schemas.openxmlformats.org/drawingml/2006/main">
            <a:pPr>
              <a:defRPr sz="2175" b="0">
                <a:solidFill>
                  <a:srgbClr val="173B42"/>
                </a:solidFill>
                <a:latin typeface="Arial"/>
                <a:ea typeface="Arial"/>
                <a:cs typeface="Arial"/>
              </a:defRPr>
            </a:pPr>
            <a:r>
              <a:rPr sz="2175" b="0">
                <a:solidFill>
                  <a:srgbClr val="173B42"/>
                </a:solidFill>
                <a:latin typeface="Arial"/>
                <a:ea typeface="Arial"/>
                <a:cs typeface="Arial"/>
              </a:rPr>
              <a:t>El cliente puede validar el cambio con la demostración.</a:t>
            </a:r>
          </a:p>
        </p:txBody>
      </p:sp>
      <p:sp>
        <p:nvSpPr>
          <p:cNvPr id="4" name="">
            <a:extLst xmlns:a="http://schemas.openxmlformats.org/drawingml/2006/main">
              <a:ext uri="{FF2B5EF4-FFF2-40B4-BE49-F238E27FC236}">
                <a16:creationId xmlns:a16="http://schemas.microsoft.com/office/drawing/2014/main" id="{62F8FEB3-2DCD-44F9-ADB2-5F500F5C6D34}"/>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B42"/>
                </a:solidFill>
                <a:latin typeface="Arial"/>
                <a:ea typeface="Arial"/>
                <a:cs typeface="Arial"/>
              </a:defRPr>
            </a:pPr>
            <a:r>
              <a:rPr sz="1350" b="0">
                <a:solidFill>
                  <a:srgbClr val="173B42"/>
                </a:solidFill>
                <a:latin typeface="Arial"/>
                <a:ea typeface="Arial"/>
                <a:cs typeface="Arial"/>
              </a:rPr>
              <a:t>06</a:t>
            </a:r>
          </a:p>
        </p:txBody>
      </p:sp>
    </p:spTree>
    <p:extLst>
      <p:ext uri="{BB962C8B-B14F-4D97-AF65-F5344CB8AC3E}">
        <p14:creationId xmlns:p14="http://schemas.microsoft.com/office/powerpoint/2010/main" val="525354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2026-09-19T17:42:19.4520000Z</dcterms:created>
  <dcterms:modified xsi:type="dcterms:W3CDTF">2026-09-19T17:42:19.4520000Z</dcterms:modified>
</coreProperties>
</file>